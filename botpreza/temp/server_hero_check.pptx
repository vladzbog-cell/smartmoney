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02920" y="502920"/>
            <a:ext cx="11201400" cy="0"/>
          </a:xfrm>
          <a:prstGeom prst="line">
            <a:avLst/>
          </a:prstGeom>
          <a:ln w="10160">
            <a:solidFill>
              <a:srgbClr val="D0D6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932688"/>
            <a:ext cx="5440680" cy="51206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989320" y="932688"/>
            <a:ext cx="5440680" cy="5120640"/>
          </a:xfrm>
          <a:prstGeom prst="roundRect">
            <a:avLst/>
          </a:prstGeom>
          <a:noFill/>
          <a:ln w="8890">
            <a:solidFill>
              <a:srgbClr val="D0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989320" y="932688"/>
            <a:ext cx="0" cy="5120640"/>
          </a:xfrm>
          <a:prstGeom prst="line">
            <a:avLst/>
          </a:prstGeom>
          <a:ln w="10160">
            <a:solidFill>
              <a:srgbClr val="D0D6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989320" y="6053328"/>
            <a:ext cx="5440680" cy="0"/>
          </a:xfrm>
          <a:prstGeom prst="line">
            <a:avLst/>
          </a:prstGeom>
          <a:ln w="10160">
            <a:solidFill>
              <a:srgbClr val="D0D6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786384"/>
            <a:ext cx="4480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CF804B"/>
                </a:solidFill>
                <a:latin typeface="Arial"/>
              </a:rPr>
              <a:t>ANALYTICAL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078992"/>
            <a:ext cx="4709160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1E2B43"/>
                </a:solidFill>
                <a:latin typeface="Arial"/>
              </a:rPr>
              <a:t>Демография мегаполиса: стимулирование рождаемости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611880"/>
            <a:ext cx="452628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E2B43"/>
                </a:solidFill>
                <a:latin typeface="Arial"/>
              </a:rPr>
              <a:t>Роль социальной поддержки семей в условиях высокоурбанизированной среды Москвы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58368" y="4736592"/>
            <a:ext cx="237744" cy="0"/>
          </a:xfrm>
          <a:prstGeom prst="line">
            <a:avLst/>
          </a:prstGeom>
          <a:ln w="27940">
            <a:solidFill>
              <a:srgbClr val="327E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87552" y="4572000"/>
            <a:ext cx="4206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16B7E"/>
                </a:solidFill>
                <a:latin typeface="Arial"/>
              </a:rPr>
              <a:t>Фокус на пересечении федеральных гарантий и региональных инициатив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8368" y="5340096"/>
            <a:ext cx="237744" cy="0"/>
          </a:xfrm>
          <a:prstGeom prst="line">
            <a:avLst/>
          </a:prstGeom>
          <a:ln w="27940">
            <a:solidFill>
              <a:srgbClr val="CF8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87552" y="5175504"/>
            <a:ext cx="4206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16B7E"/>
                </a:solidFill>
                <a:latin typeface="Arial"/>
              </a:rPr>
              <a:t>Анализ влияния экономических стимулов на репродуктивное поведение населения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108192"/>
            <a:ext cx="49377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16B7E"/>
                </a:solidFill>
                <a:latin typeface="Arial"/>
              </a:rPr>
              <a:t>Prepared automatically from source materials and reference visual archetypes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