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722" y="0"/>
            <a:ext cx="182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347461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Smoke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33472"/>
            <a:ext cx="347461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8ECF2"/>
                </a:solidFill>
                <a:latin typeface="Arial"/>
              </a:rPr>
              <a:t>• Ключевые тезисы слайда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347461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8ECF2"/>
                </a:solidFill>
                <a:latin typeface="Arial"/>
              </a:rPr>
              <a:t>• Контекст, выводы и действия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58858" y="960120"/>
            <a:ext cx="0" cy="4873752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367418" y="1170432"/>
            <a:ext cx="182880" cy="182880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33178" y="987552"/>
            <a:ext cx="3977639" cy="82296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770" y="1115568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43A"/>
                </a:solidFill>
                <a:latin typeface="Arial"/>
              </a:rPr>
              <a:t>1. Этап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770" y="140817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85670"/>
                </a:solidFill>
                <a:latin typeface="Arial"/>
              </a:rPr>
              <a:t>Анализ исходных данных</a:t>
            </a:r>
          </a:p>
        </p:txBody>
      </p:sp>
      <p:sp>
        <p:nvSpPr>
          <p:cNvPr id="13" name="Oval 12"/>
          <p:cNvSpPr/>
          <p:nvPr/>
        </p:nvSpPr>
        <p:spPr>
          <a:xfrm>
            <a:off x="5367418" y="2359151"/>
            <a:ext cx="182880" cy="182880"/>
          </a:xfrm>
          <a:prstGeom prst="ellipse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33178" y="2176271"/>
            <a:ext cx="3977639" cy="82296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770" y="2304287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43A"/>
                </a:solidFill>
                <a:latin typeface="Arial"/>
              </a:rPr>
              <a:t>2. Этап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770" y="2596895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85670"/>
                </a:solidFill>
                <a:latin typeface="Arial"/>
              </a:rPr>
              <a:t>Проектирование решения</a:t>
            </a:r>
          </a:p>
        </p:txBody>
      </p:sp>
      <p:sp>
        <p:nvSpPr>
          <p:cNvPr id="17" name="Oval 16"/>
          <p:cNvSpPr/>
          <p:nvPr/>
        </p:nvSpPr>
        <p:spPr>
          <a:xfrm>
            <a:off x="5367418" y="3547872"/>
            <a:ext cx="182880" cy="182880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33178" y="3364992"/>
            <a:ext cx="3977639" cy="82296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770" y="3493008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43A"/>
                </a:solidFill>
                <a:latin typeface="Arial"/>
              </a:rPr>
              <a:t>3. Этап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770" y="37856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85670"/>
                </a:solidFill>
                <a:latin typeface="Arial"/>
              </a:rPr>
              <a:t>Внедрение и контроль</a:t>
            </a:r>
          </a:p>
        </p:txBody>
      </p:sp>
      <p:sp>
        <p:nvSpPr>
          <p:cNvPr id="21" name="Oval 20"/>
          <p:cNvSpPr/>
          <p:nvPr/>
        </p:nvSpPr>
        <p:spPr>
          <a:xfrm>
            <a:off x="5367418" y="4736592"/>
            <a:ext cx="182880" cy="182880"/>
          </a:xfrm>
          <a:prstGeom prst="ellipse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33178" y="4553712"/>
            <a:ext cx="3977639" cy="82296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770" y="4681728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43A"/>
                </a:solidFill>
                <a:latin typeface="Arial"/>
              </a:rPr>
              <a:t>4. Диагностика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770" y="497433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85670"/>
                </a:solidFill>
                <a:latin typeface="Arial"/>
              </a:rPr>
              <a:t>Диагностика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