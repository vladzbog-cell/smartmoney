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4048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8096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144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6192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04288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88336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72384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56432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24528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608576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92624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376672" y="0"/>
            <a:ext cx="0" cy="685800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310896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621792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932688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43584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865376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176272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487168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798064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108960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419856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3730752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4041648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352544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4663440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974336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5285232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596128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907024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217920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28816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6839712"/>
            <a:ext cx="56692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66928" y="512064"/>
            <a:ext cx="4663440" cy="1417320"/>
          </a:xfrm>
          <a:prstGeom prst="roundRect">
            <a:avLst/>
          </a:prstGeom>
          <a:solidFill>
            <a:srgbClr val="141C2B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841248"/>
            <a:ext cx="4297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NotebookLM-style Presentation Engine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2240280"/>
            <a:ext cx="4069080" cy="658368"/>
          </a:xfrm>
          <a:prstGeom prst="roundRect">
            <a:avLst/>
          </a:prstGeom>
          <a:solidFill>
            <a:srgbClr val="182132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2240280"/>
            <a:ext cx="502920" cy="73152"/>
          </a:xfrm>
          <a:prstGeom prst="rect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2386584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Всеядный вход: документы, голос, фото, ссылки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118104"/>
            <a:ext cx="4069080" cy="658368"/>
          </a:xfrm>
          <a:prstGeom prst="roundRect">
            <a:avLst/>
          </a:prstGeom>
          <a:solidFill>
            <a:srgbClr val="182132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1520" y="3118104"/>
            <a:ext cx="502920" cy="73152"/>
          </a:xfrm>
          <a:prstGeom prst="rect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3264408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Редактор понимает формат аудитории и задачу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995928"/>
            <a:ext cx="4069080" cy="658368"/>
          </a:xfrm>
          <a:prstGeom prst="roundRect">
            <a:avLst/>
          </a:prstGeom>
          <a:solidFill>
            <a:srgbClr val="182132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20" y="3995928"/>
            <a:ext cx="502920" cy="73152"/>
          </a:xfrm>
          <a:prstGeom prst="rect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142232"/>
            <a:ext cx="3566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Премиальная гибридная верстка вместо шаблона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5321808"/>
            <a:ext cx="4206240" cy="530352"/>
          </a:xfrm>
          <a:prstGeom prst="roundRect">
            <a:avLst/>
          </a:prstGeom>
          <a:solidFill>
            <a:srgbClr val="141C2B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5468112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EE4EC"/>
                </a:solidFill>
                <a:latin typeface="Arial"/>
              </a:rPr>
              <a:t>Всеядный вход: документы, голос, фото, ссылки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10896"/>
            <a:ext cx="585216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KEY THEMES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"/>
            <a:ext cx="5394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B43"/>
                </a:solidFill>
                <a:latin typeface="Arial"/>
              </a:rPr>
              <a:t>Глубокое понимание контекста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4846320" cy="16459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40080" cy="73152"/>
          </a:xfrm>
          <a:prstGeom prst="rect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Аудитория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6771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комиссия, инвесторы, команда продукта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737360"/>
            <a:ext cx="4846320" cy="16459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737360"/>
            <a:ext cx="640080" cy="73152"/>
          </a:xfrm>
          <a:prstGeom prst="rect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92024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Формат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26771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матрицы, сравнения, карта аргументов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94760"/>
            <a:ext cx="4846320" cy="16459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640080" cy="73152"/>
          </a:xfrm>
          <a:prstGeom prst="rect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7764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Подача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2511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строгая аналитика вместо абстрактных тезисов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794760"/>
            <a:ext cx="4846320" cy="16459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794760"/>
            <a:ext cx="640080" cy="73152"/>
          </a:xfrm>
          <a:prstGeom prst="rect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397764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Сигнал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4325112"/>
            <a:ext cx="4434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важнее выводы, чем пересказ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10896"/>
            <a:ext cx="585216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"/>
            <a:ext cx="5394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B43"/>
                </a:solidFill>
                <a:latin typeface="Arial"/>
              </a:rPr>
              <a:t>Как движок строит narrative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880360"/>
            <a:ext cx="2560320" cy="15544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587752"/>
            <a:ext cx="457200" cy="457200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04495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1. Сбор сырого материала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7413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Сбор сырого материала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630168"/>
            <a:ext cx="182880" cy="0"/>
          </a:xfrm>
          <a:prstGeom prst="line">
            <a:avLst/>
          </a:prstGeom>
          <a:ln w="1524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2880360"/>
            <a:ext cx="2560320" cy="15544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11296" y="2587752"/>
            <a:ext cx="457200" cy="457200"/>
          </a:xfrm>
          <a:prstGeom prst="ellipse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304495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2. Смысловая декомпозиция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7413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Смысловая декомпозиция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3630168"/>
            <a:ext cx="182880" cy="0"/>
          </a:xfrm>
          <a:prstGeom prst="line">
            <a:avLst/>
          </a:prstGeom>
          <a:ln w="1524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2880360"/>
            <a:ext cx="2560320" cy="15544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2587752"/>
            <a:ext cx="457200" cy="457200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04495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3. Выбор визуального архетипа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37413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Выбор визуального архетипа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32520" y="3630168"/>
            <a:ext cx="182880" cy="0"/>
          </a:xfrm>
          <a:prstGeom prst="line">
            <a:avLst/>
          </a:prstGeom>
          <a:ln w="15240"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61120" y="2880360"/>
            <a:ext cx="2560320" cy="15544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89136" y="2587752"/>
            <a:ext cx="457200" cy="457200"/>
          </a:xfrm>
          <a:prstGeom prst="ellipse">
            <a:avLst/>
          </a:prstGeom>
          <a:solidFill>
            <a:srgbClr val="CF8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3044952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4. Сборка премиального слайда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374136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16B7E"/>
                </a:solidFill>
                <a:latin typeface="Arial"/>
              </a:rPr>
              <a:t>Сборка премиального слайда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10896"/>
            <a:ext cx="585216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"/>
            <a:ext cx="5394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B43"/>
                </a:solidFill>
                <a:latin typeface="Arial"/>
              </a:rPr>
              <a:t>Где нужен data-driven формат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37360"/>
            <a:ext cx="9052560" cy="448056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40680" y="1993392"/>
            <a:ext cx="0" cy="3904488"/>
          </a:xfrm>
          <a:prstGeom prst="line">
            <a:avLst/>
          </a:prstGeom>
          <a:ln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70432" y="3977639"/>
            <a:ext cx="8540496" cy="0"/>
          </a:xfrm>
          <a:prstGeom prst="line">
            <a:avLst/>
          </a:prstGeom>
          <a:ln>
            <a:solidFill>
              <a:srgbClr val="D0D6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23360" y="594360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16B7E"/>
                </a:solidFill>
                <a:latin typeface="Arial"/>
              </a:rPr>
              <a:t>Стратегическая привлекательность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411480" y="3383280"/>
            <a:ext cx="365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16B7E"/>
                </a:solidFill>
                <a:latin typeface="Arial"/>
              </a:rPr>
              <a:t>Операционная сложность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031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Высокая ценность / низкая сложность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95728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быстрые победы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21031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Высокая ценность / высокая сложность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395728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стратегические ставки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708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Низкая ценность / низкая сложность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663440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поддерживающие меры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50992" y="437083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2B43"/>
                </a:solidFill>
                <a:latin typeface="Arial"/>
              </a:rPr>
              <a:t>Низкая ценность / высокая сложность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4663440"/>
            <a:ext cx="3566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кандидаты на отказ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310896"/>
            <a:ext cx="585216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CF804B"/>
                </a:solidFill>
                <a:latin typeface="Arial"/>
              </a:rPr>
              <a:t>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0080"/>
            <a:ext cx="5394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B43"/>
                </a:solidFill>
                <a:latin typeface="Arial"/>
              </a:rPr>
              <a:t>Результат для пользователя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6903720" cy="452628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1440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69164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6888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4612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7784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55080" y="2011680"/>
            <a:ext cx="0" cy="361188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" y="2011680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400" y="2670048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4400" y="3328416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14400" y="3986784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4400" y="4645152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" y="5303520"/>
            <a:ext cx="6126480" cy="0"/>
          </a:xfrm>
          <a:prstGeom prst="line">
            <a:avLst/>
          </a:prstGeom>
          <a:ln w="6350">
            <a:solidFill>
              <a:srgbClr val="E4E8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24128" y="3273552"/>
            <a:ext cx="987552" cy="932688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11680" y="3273552"/>
            <a:ext cx="987552" cy="1399031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99232" y="4672583"/>
            <a:ext cx="987552" cy="301753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986784" y="4343400"/>
            <a:ext cx="987552" cy="630936"/>
          </a:xfrm>
          <a:prstGeom prst="line">
            <a:avLst/>
          </a:prstGeom>
          <a:ln w="25400">
            <a:solidFill>
              <a:srgbClr val="32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974336" y="4343400"/>
            <a:ext cx="987552" cy="246888"/>
          </a:xfrm>
          <a:prstGeom prst="line">
            <a:avLst/>
          </a:prstGeom>
          <a:ln w="25400">
            <a:solidFill>
              <a:srgbClr val="CF8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9264" y="4151376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56816" y="3218688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44368" y="4617719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31920" y="4919472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19472" y="4288536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07024" y="4535424"/>
            <a:ext cx="109728" cy="109728"/>
          </a:xfrm>
          <a:prstGeom prst="ellipse">
            <a:avLst/>
          </a:prstGeom>
          <a:solidFill>
            <a:srgbClr val="327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80960" y="3749039"/>
            <a:ext cx="393192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3895343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B43"/>
                </a:solidFill>
                <a:latin typeface="Arial"/>
              </a:rPr>
              <a:t>За минуты получается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4187951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продукт уровня дизайнерской команды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846320"/>
            <a:ext cx="3931920" cy="960120"/>
          </a:xfrm>
          <a:prstGeom prst="roundRect">
            <a:avLst/>
          </a:prstGeom>
          <a:solidFill>
            <a:srgbClr val="FFFFFC"/>
          </a:solidFill>
          <a:ln w="10160">
            <a:solidFill>
              <a:srgbClr val="D0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7" y="4992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E2B43"/>
                </a:solidFill>
                <a:latin typeface="Arial"/>
              </a:rPr>
              <a:t>Слайды держат narrative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5285232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16B7E"/>
                </a:solidFill>
                <a:latin typeface="Arial"/>
              </a:rPr>
              <a:t>и не разваливаются визуально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