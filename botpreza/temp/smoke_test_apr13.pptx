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11201400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32688"/>
            <a:ext cx="544068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89320" y="932688"/>
            <a:ext cx="5440680" cy="5120640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989320" y="932688"/>
            <a:ext cx="0" cy="512064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89320" y="6053328"/>
            <a:ext cx="5440680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786384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ANALYTICAL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470916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E2B43"/>
                </a:solidFill>
                <a:latin typeface="Arial"/>
              </a:rPr>
              <a:t>Интеграция нейросетей в образовательную среду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11880"/>
            <a:ext cx="45262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B43"/>
                </a:solidFill>
                <a:latin typeface="Arial"/>
              </a:rPr>
              <a:t>Трансформация классического учебного процесса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736592"/>
            <a:ext cx="237744" cy="0"/>
          </a:xfrm>
          <a:prstGeom prst="line">
            <a:avLst/>
          </a:prstGeom>
          <a:ln w="2794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87552" y="4572000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Глубокая персонализация образовательного трека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5340096"/>
            <a:ext cx="237744" cy="0"/>
          </a:xfrm>
          <a:prstGeom prst="line">
            <a:avLst/>
          </a:prstGeom>
          <a:ln w="2794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" y="51755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Аналитика академического прогресса в реальном времени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08192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16B7E"/>
                </a:solidFill>
                <a:latin typeface="Arial"/>
              </a:rPr>
              <a:t>Prepared automatically from source materials and reference visual archetypes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KEY THEMES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03504"/>
            <a:ext cx="10725912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749808"/>
            <a:ext cx="7223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B43"/>
                </a:solidFill>
                <a:latin typeface="Arial"/>
              </a:rPr>
              <a:t>Архитектура преимуществ для университета</a:t>
            </a:r>
          </a:p>
        </p:txBody>
      </p:sp>
      <p:pic>
        <p:nvPicPr>
          <p:cNvPr id="5" name="Picture 4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896112"/>
            <a:ext cx="2834640" cy="1554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896112"/>
            <a:ext cx="2834640" cy="1554480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074920" cy="1627632"/>
          </a:xfrm>
          <a:prstGeom prst="roundRect">
            <a:avLst/>
          </a:prstGeom>
          <a:solidFill>
            <a:srgbClr val="E5ECF1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58368" y="1956816"/>
            <a:ext cx="786384" cy="0"/>
          </a:xfrm>
          <a:prstGeom prst="line">
            <a:avLst/>
          </a:prstGeom>
          <a:ln w="2794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2084832"/>
            <a:ext cx="46908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Формирование адаптивных траекторий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32304"/>
            <a:ext cx="46908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обучения под каждого студента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828800"/>
            <a:ext cx="5486400" cy="16276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486400" y="1956816"/>
            <a:ext cx="786384" cy="0"/>
          </a:xfrm>
          <a:prstGeom prst="line">
            <a:avLst/>
          </a:prstGeom>
          <a:ln w="2794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0" y="2084832"/>
            <a:ext cx="5102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Интерактивные форматы визуализации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32304"/>
            <a:ext cx="510235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и объяснения сложных тем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30752"/>
            <a:ext cx="5074920" cy="1627632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58368" y="3858768"/>
            <a:ext cx="786384" cy="0"/>
          </a:xfrm>
          <a:prstGeom prst="line">
            <a:avLst/>
          </a:prstGeom>
          <a:ln w="2794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986784"/>
            <a:ext cx="46908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Мгновенное выявление когнитивных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334256"/>
            <a:ext cx="469087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пробелов в знаниях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30752"/>
            <a:ext cx="5486400" cy="1627632"/>
          </a:xfrm>
          <a:prstGeom prst="roundRect">
            <a:avLst/>
          </a:prstGeom>
          <a:solidFill>
            <a:srgbClr val="E5ECF1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0" y="3858768"/>
            <a:ext cx="786384" cy="0"/>
          </a:xfrm>
          <a:prstGeom prst="line">
            <a:avLst/>
          </a:prstGeom>
          <a:ln w="2794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3986784"/>
            <a:ext cx="5102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Радикальное снижение рутинной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334256"/>
            <a:ext cx="510235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нагрузки на преподавательский состав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MATRIX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03504"/>
            <a:ext cx="10725912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749808"/>
            <a:ext cx="7223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B43"/>
                </a:solidFill>
                <a:latin typeface="Arial"/>
              </a:rPr>
              <a:t>Матрица технологических и этических рисков</a:t>
            </a:r>
          </a:p>
        </p:txBody>
      </p:sp>
      <p:pic>
        <p:nvPicPr>
          <p:cNvPr id="5" name="Picture 4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896112"/>
            <a:ext cx="2880360" cy="1645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896112"/>
            <a:ext cx="2880360" cy="1645920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9052560" cy="448056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40680" y="1993392"/>
            <a:ext cx="0" cy="3904488"/>
          </a:xfrm>
          <a:prstGeom prst="line">
            <a:avLst/>
          </a:prstGeom>
          <a:ln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" y="3977639"/>
            <a:ext cx="8540496" cy="0"/>
          </a:xfrm>
          <a:prstGeom prst="line">
            <a:avLst/>
          </a:prstGeom>
          <a:ln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23360" y="594360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16B7E"/>
                </a:solidFill>
                <a:latin typeface="Arial"/>
              </a:rPr>
              <a:t>Стратегическая привлекательность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411480" y="3383280"/>
            <a:ext cx="365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16B7E"/>
                </a:solidFill>
                <a:latin typeface="Arial"/>
              </a:rPr>
              <a:t>Операционная сложность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1288" y="2029968"/>
            <a:ext cx="3639312" cy="932688"/>
          </a:xfrm>
          <a:prstGeom prst="rect">
            <a:avLst/>
          </a:prstGeom>
          <a:solidFill>
            <a:srgbClr val="E5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1031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Критическая зависимость от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95728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качества и объема обучающих датасетов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029968"/>
            <a:ext cx="363931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21031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Риск алгоритмических искажений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395728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и ошибок в рекомендациях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" y="4297680"/>
            <a:ext cx="363931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37083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Уязвимости в архитектуре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63440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хранения персональных данных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297680"/>
            <a:ext cx="3639312" cy="932688"/>
          </a:xfrm>
          <a:prstGeom prst="rect">
            <a:avLst/>
          </a:prstGeom>
          <a:solidFill>
            <a:srgbClr val="E5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437083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Необходимость обязательной валидации решений преподавателем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4663440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Необходимость обязательной валидации решений преподавателем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TREND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03504"/>
            <a:ext cx="10725912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749808"/>
            <a:ext cx="7223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B43"/>
                </a:solidFill>
                <a:latin typeface="Arial"/>
              </a:rPr>
              <a:t>Стратегический эффект и прогноз эффективности</a:t>
            </a:r>
          </a:p>
        </p:txBody>
      </p:sp>
      <p:pic>
        <p:nvPicPr>
          <p:cNvPr id="5" name="Picture 4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896112"/>
            <a:ext cx="2971800" cy="1691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896112"/>
            <a:ext cx="2971800" cy="1691640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903720" cy="45262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1440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9164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784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5508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2011680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2670048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3328416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3986784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" y="4645152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" y="5303520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4128" y="4233672"/>
            <a:ext cx="987552" cy="411480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11680" y="4014215"/>
            <a:ext cx="987552" cy="630937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99232" y="4014215"/>
            <a:ext cx="987552" cy="466345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86784" y="3822191"/>
            <a:ext cx="987552" cy="658369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74336" y="3822191"/>
            <a:ext cx="987552" cy="438913"/>
          </a:xfrm>
          <a:prstGeom prst="line">
            <a:avLst/>
          </a:prstGeom>
          <a:ln w="2540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69264" y="4178808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56816" y="4590288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44368" y="3959351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0" y="4425696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19472" y="3767327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07024" y="4206240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80960" y="3749039"/>
            <a:ext cx="393192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3895343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B43"/>
                </a:solidFill>
                <a:latin typeface="Arial"/>
              </a:rPr>
              <a:t>Оптимизация распределения академических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4187951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часов и ресурсов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4846320"/>
            <a:ext cx="393192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4992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B43"/>
                </a:solidFill>
                <a:latin typeface="Arial"/>
              </a:rPr>
              <a:t>Экспоненциальный рост точности оценки успеваемости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528523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Экспоненциальный рост точности оценки успеваемости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