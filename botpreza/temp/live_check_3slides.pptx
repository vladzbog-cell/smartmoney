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26888" y="0"/>
            <a:ext cx="182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32033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Стратегический Вектор: Поддержка Семьи и Демографии Москвы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78608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Комплексный подход к благополучию московских семей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79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Инвестиции в человеческий капитал и будущее города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Создание благоприятной среды для роста и развития</a:t>
            </a:r>
          </a:p>
        </p:txBody>
      </p:sp>
      <p:sp>
        <p:nvSpPr>
          <p:cNvPr id="9" name="Oval 8"/>
          <p:cNvSpPr/>
          <p:nvPr/>
        </p:nvSpPr>
        <p:spPr>
          <a:xfrm>
            <a:off x="6083704" y="2011680"/>
            <a:ext cx="2926080" cy="292608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40904" y="2468880"/>
            <a:ext cx="2011680" cy="201168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3240" y="2871216"/>
            <a:ext cx="1207008" cy="1207008"/>
          </a:xfrm>
          <a:prstGeom prst="ellipse">
            <a:avLst/>
          </a:prstGeom>
          <a:noFill/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45576" y="327355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26888" y="0"/>
            <a:ext cx="182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32033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Этапы Масштабирования: Эволюция Мер Соцподдержки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78608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Разработка и внедрение пилотных программ (2020-2021)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79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Расширение охвата и интеграция услуг (2022-2023)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Автоматизация и персонализация поддержки (2024-...)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92624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Достижение максимальной эффективности и доступности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5024" y="960120"/>
            <a:ext cx="0" cy="487375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123584" y="117043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9344" y="987552"/>
            <a:ext cx="397763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3936" y="1143000"/>
            <a:ext cx="3611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1. Разработка и внедрение пилотных программ (2020-2021)</a:t>
            </a:r>
          </a:p>
        </p:txBody>
      </p:sp>
      <p:sp>
        <p:nvSpPr>
          <p:cNvPr id="14" name="Oval 13"/>
          <p:cNvSpPr/>
          <p:nvPr/>
        </p:nvSpPr>
        <p:spPr>
          <a:xfrm>
            <a:off x="5123584" y="2359151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9344" y="2176271"/>
            <a:ext cx="397763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3936" y="2331719"/>
            <a:ext cx="3611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2. Расширение охвата и интеграция услуг (2022-2023)</a:t>
            </a:r>
          </a:p>
        </p:txBody>
      </p:sp>
      <p:sp>
        <p:nvSpPr>
          <p:cNvPr id="17" name="Oval 16"/>
          <p:cNvSpPr/>
          <p:nvPr/>
        </p:nvSpPr>
        <p:spPr>
          <a:xfrm>
            <a:off x="5123584" y="354787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9344" y="3364992"/>
            <a:ext cx="397763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3936" y="3520440"/>
            <a:ext cx="3611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3. Автоматизация и персонализация поддержки (2024-...)</a:t>
            </a:r>
          </a:p>
        </p:txBody>
      </p:sp>
      <p:sp>
        <p:nvSpPr>
          <p:cNvPr id="20" name="Oval 19"/>
          <p:cNvSpPr/>
          <p:nvPr/>
        </p:nvSpPr>
        <p:spPr>
          <a:xfrm>
            <a:off x="5123584" y="473659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9344" y="4553712"/>
            <a:ext cx="397763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3936" y="4709160"/>
            <a:ext cx="3611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4. Достижение максимальной эффективности и доступности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26888" y="0"/>
            <a:ext cx="182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32033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Анализ Эффективности: План-Факт и Ключевые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78608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Сравнительный анализ целевых показателей и фактических результатов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79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Выявление зон роста и передовых практик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Управленческие решения для дальнейшего развития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92624"/>
            <a:ext cx="3203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CF2"/>
                </a:solidFill>
                <a:latin typeface="Arial"/>
              </a:rPr>
              <a:t>• Оптимизация ресурсов и повышение адресности поддержки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6384" y="1133856"/>
            <a:ext cx="5349240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41004" y="1133856"/>
            <a:ext cx="0" cy="4828032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6384" y="2099462"/>
            <a:ext cx="5349240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6384" y="3065068"/>
            <a:ext cx="5349240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6384" y="4030674"/>
            <a:ext cx="5349240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6384" y="4996280"/>
            <a:ext cx="5349240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3544" y="1225296"/>
            <a:ext cx="24003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8164" y="1225296"/>
            <a:ext cx="24003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РЕАЛЬНОСТЬ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3544" y="2190902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Сравнительный анализ целевых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8164" y="2190902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показателей и фактических результатов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3544" y="3156508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Выявление зон роста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8164" y="3156508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и передовых практик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3544" y="4122114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Управленческие решения для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8164" y="4122114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дальнейшего развития системы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3544" y="5087720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Оптимизация ресурсов 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8164" y="5087720"/>
            <a:ext cx="24003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CF2"/>
                </a:solidFill>
                <a:latin typeface="Arial"/>
              </a:rPr>
              <a:t>повышение адресности поддержки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