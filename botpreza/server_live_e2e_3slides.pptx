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502920"/>
            <a:ext cx="11201400" cy="0"/>
          </a:xfrm>
          <a:prstGeom prst="line">
            <a:avLst/>
          </a:prstGeom>
          <a:ln w="1016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932688"/>
            <a:ext cx="5440680" cy="5120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89320" y="932688"/>
            <a:ext cx="5440680" cy="5120640"/>
          </a:xfrm>
          <a:prstGeom prst="roundRect">
            <a:avLst/>
          </a:prstGeom>
          <a:noFill/>
          <a:ln w="889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989320" y="932688"/>
            <a:ext cx="0" cy="5120640"/>
          </a:xfrm>
          <a:prstGeom prst="line">
            <a:avLst/>
          </a:prstGeom>
          <a:ln w="1016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989320" y="6053328"/>
            <a:ext cx="5440680" cy="0"/>
          </a:xfrm>
          <a:prstGeom prst="line">
            <a:avLst/>
          </a:prstGeom>
          <a:ln w="1016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786384"/>
            <a:ext cx="4480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CF804B"/>
                </a:solidFill>
                <a:latin typeface="Arial"/>
              </a:rPr>
              <a:t>ANALYTICAL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470916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E2B43"/>
                </a:solidFill>
                <a:latin typeface="Arial"/>
              </a:rPr>
              <a:t>Суть нашего NotebookLM для презентаций строится на трех опор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11880"/>
            <a:ext cx="452628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B43"/>
                </a:solidFill>
                <a:latin typeface="Arial"/>
              </a:rPr>
              <a:t>Суть нашего NotebookLM для презентаций строится на трех опорах. Первая — абсолютная всеядность: система переваривает DOCX, PDF, голосовые со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4736592"/>
            <a:ext cx="237744" cy="0"/>
          </a:xfrm>
          <a:prstGeom prst="line">
            <a:avLst/>
          </a:prstGeom>
          <a:ln w="27940">
            <a:solidFill>
              <a:srgbClr val="32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87552" y="4572000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Ключевые факты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5340096"/>
            <a:ext cx="237744" cy="0"/>
          </a:xfrm>
          <a:prstGeom prst="line">
            <a:avLst/>
          </a:prstGeom>
          <a:ln w="27940">
            <a:solidFill>
              <a:srgbClr val="CF8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87552" y="51755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Практические выводы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08192"/>
            <a:ext cx="4937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16B7E"/>
                </a:solidFill>
                <a:latin typeface="Arial"/>
              </a:rPr>
              <a:t>Prepared automatically from source materials and reference visual archetypes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CF804B"/>
                </a:solidFill>
                <a:latin typeface="Arial"/>
              </a:rPr>
              <a:t>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603504"/>
            <a:ext cx="10725912" cy="0"/>
          </a:xfrm>
          <a:prstGeom prst="line">
            <a:avLst/>
          </a:prstGeom>
          <a:ln w="1016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749808"/>
            <a:ext cx="7223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B43"/>
                </a:solidFill>
                <a:latin typeface="Arial"/>
              </a:rPr>
              <a:t>Выводы и дальнейшие шаги</a:t>
            </a:r>
          </a:p>
        </p:txBody>
      </p:sp>
      <p:pic>
        <p:nvPicPr>
          <p:cNvPr id="5" name="Picture 4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896112"/>
            <a:ext cx="2743200" cy="15727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95360" y="896112"/>
            <a:ext cx="2743200" cy="1572768"/>
          </a:xfrm>
          <a:prstGeom prst="roundRect">
            <a:avLst/>
          </a:prstGeom>
          <a:noFill/>
          <a:ln w="889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49240" cy="429768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349240" cy="429768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731520" cy="73152"/>
          </a:xfrm>
          <a:prstGeom prst="rect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731520" cy="73152"/>
          </a:xfrm>
          <a:prstGeom prst="rect">
            <a:avLst/>
          </a:prstGeom>
          <a:solidFill>
            <a:srgbClr val="CF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B43"/>
                </a:solidFill>
                <a:latin typeface="Arial"/>
              </a:rPr>
              <a:t>Суть нашего NotebookLM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87168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B7E"/>
                </a:solidFill>
                <a:latin typeface="Arial"/>
              </a:rPr>
              <a:t>для презентаций строится на трех опорах. Первая — абсолютная всеядность: система переваривает DOCX, PDF, голосовые со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B43"/>
                </a:solidFill>
                <a:latin typeface="Arial"/>
              </a:rPr>
              <a:t>Правая 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B7E"/>
                </a:solidFill>
                <a:latin typeface="Arial"/>
              </a:rPr>
              <a:t>Правая позиция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